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sldIdLst>
    <p:sldId id="257" r:id="rId3"/>
    <p:sldId id="258" r:id="rId4"/>
    <p:sldId id="280" r:id="rId5"/>
    <p:sldId id="281" r:id="rId6"/>
    <p:sldId id="285" r:id="rId7"/>
    <p:sldId id="282" r:id="rId8"/>
    <p:sldId id="284" r:id="rId9"/>
    <p:sldId id="287" r:id="rId10"/>
    <p:sldId id="263" r:id="rId11"/>
    <p:sldId id="288" r:id="rId12"/>
    <p:sldId id="290" r:id="rId13"/>
    <p:sldId id="293" r:id="rId14"/>
    <p:sldId id="291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Yaza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EEA"/>
    <a:srgbClr val="34A8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  <a:endParaRPr lang="tr-TR"/>
          </a:p>
          <a:p>
            <a:pPr lvl="1"/>
            <a:r>
              <a:rPr lang="tr-TR"/>
              <a:t>İkinci düzey</a:t>
            </a:r>
            <a:endParaRPr lang="tr-TR"/>
          </a:p>
          <a:p>
            <a:pPr lvl="2"/>
            <a:r>
              <a:rPr lang="tr-TR"/>
              <a:t>Üçüncü düzey</a:t>
            </a:r>
            <a:endParaRPr lang="tr-TR"/>
          </a:p>
          <a:p>
            <a:pPr lvl="3"/>
            <a:r>
              <a:rPr lang="tr-TR"/>
              <a:t>Dördüncü düzey</a:t>
            </a:r>
            <a:endParaRPr lang="tr-TR"/>
          </a:p>
          <a:p>
            <a:pPr lvl="4"/>
            <a:r>
              <a:rPr lang="tr-TR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  <a:endParaRPr lang="tr-TR"/>
          </a:p>
          <a:p>
            <a:pPr lvl="1"/>
            <a:r>
              <a:rPr lang="tr-TR"/>
              <a:t>İkinci düzey</a:t>
            </a:r>
            <a:endParaRPr lang="tr-TR"/>
          </a:p>
          <a:p>
            <a:pPr lvl="2"/>
            <a:r>
              <a:rPr lang="tr-TR"/>
              <a:t>Üçüncü düzey</a:t>
            </a:r>
            <a:endParaRPr lang="tr-TR"/>
          </a:p>
          <a:p>
            <a:pPr lvl="3"/>
            <a:r>
              <a:rPr lang="tr-TR"/>
              <a:t>Dördüncü düzey</a:t>
            </a:r>
            <a:endParaRPr lang="tr-TR"/>
          </a:p>
          <a:p>
            <a:pPr lvl="4"/>
            <a:r>
              <a:rPr lang="tr-TR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  <a:endParaRPr lang="tr-TR"/>
          </a:p>
          <a:p>
            <a:pPr lvl="1"/>
            <a:r>
              <a:rPr lang="tr-TR"/>
              <a:t>İkinci düzey</a:t>
            </a:r>
            <a:endParaRPr lang="tr-TR"/>
          </a:p>
          <a:p>
            <a:pPr lvl="2"/>
            <a:r>
              <a:rPr lang="tr-TR"/>
              <a:t>Üçüncü düzey</a:t>
            </a:r>
            <a:endParaRPr lang="tr-TR"/>
          </a:p>
          <a:p>
            <a:pPr lvl="3"/>
            <a:r>
              <a:rPr lang="tr-TR"/>
              <a:t>Dördüncü düzey</a:t>
            </a:r>
            <a:endParaRPr lang="tr-TR"/>
          </a:p>
          <a:p>
            <a:pPr lvl="4"/>
            <a:r>
              <a:rPr lang="tr-TR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  <a:endParaRPr lang="tr-TR"/>
          </a:p>
          <a:p>
            <a:pPr lvl="1"/>
            <a:r>
              <a:rPr lang="tr-TR"/>
              <a:t>İkinci düzey</a:t>
            </a:r>
            <a:endParaRPr lang="tr-TR"/>
          </a:p>
          <a:p>
            <a:pPr lvl="2"/>
            <a:r>
              <a:rPr lang="tr-TR"/>
              <a:t>Üçüncü düzey</a:t>
            </a:r>
            <a:endParaRPr lang="tr-TR"/>
          </a:p>
          <a:p>
            <a:pPr lvl="3"/>
            <a:r>
              <a:rPr lang="tr-TR"/>
              <a:t>Dördüncü düzey</a:t>
            </a:r>
            <a:endParaRPr lang="tr-TR"/>
          </a:p>
          <a:p>
            <a:pPr lvl="4"/>
            <a:r>
              <a:rPr lang="tr-TR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  <a:endParaRPr lang="tr-TR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  <a:endParaRPr lang="tr-TR"/>
          </a:p>
          <a:p>
            <a:pPr lvl="1"/>
            <a:r>
              <a:rPr lang="tr-TR"/>
              <a:t>İkinci düzey</a:t>
            </a:r>
            <a:endParaRPr lang="tr-TR"/>
          </a:p>
          <a:p>
            <a:pPr lvl="2"/>
            <a:r>
              <a:rPr lang="tr-TR"/>
              <a:t>Üçüncü düzey</a:t>
            </a:r>
            <a:endParaRPr lang="tr-TR"/>
          </a:p>
          <a:p>
            <a:pPr lvl="3"/>
            <a:r>
              <a:rPr lang="tr-TR"/>
              <a:t>Dördüncü düzey</a:t>
            </a:r>
            <a:endParaRPr lang="tr-TR"/>
          </a:p>
          <a:p>
            <a:pPr lvl="4"/>
            <a:r>
              <a:rPr lang="tr-TR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  <a:endParaRPr lang="tr-TR"/>
          </a:p>
          <a:p>
            <a:pPr lvl="1"/>
            <a:r>
              <a:rPr lang="tr-TR"/>
              <a:t>İkinci düzey</a:t>
            </a:r>
            <a:endParaRPr lang="tr-TR"/>
          </a:p>
          <a:p>
            <a:pPr lvl="2"/>
            <a:r>
              <a:rPr lang="tr-TR"/>
              <a:t>Üçüncü düzey</a:t>
            </a:r>
            <a:endParaRPr lang="tr-TR"/>
          </a:p>
          <a:p>
            <a:pPr lvl="3"/>
            <a:r>
              <a:rPr lang="tr-TR"/>
              <a:t>Dördüncü düzey</a:t>
            </a:r>
            <a:endParaRPr lang="tr-TR"/>
          </a:p>
          <a:p>
            <a:pPr lvl="4"/>
            <a:r>
              <a:rPr lang="tr-TR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  <a:endParaRPr lang="tr-TR"/>
          </a:p>
          <a:p>
            <a:pPr lvl="1"/>
            <a:r>
              <a:rPr lang="tr-TR"/>
              <a:t>İkinci düzey</a:t>
            </a:r>
            <a:endParaRPr lang="tr-TR"/>
          </a:p>
          <a:p>
            <a:pPr lvl="2"/>
            <a:r>
              <a:rPr lang="tr-TR"/>
              <a:t>Üçüncü düzey</a:t>
            </a:r>
            <a:endParaRPr lang="tr-TR"/>
          </a:p>
          <a:p>
            <a:pPr lvl="3"/>
            <a:r>
              <a:rPr lang="tr-TR"/>
              <a:t>Dördüncü düzey</a:t>
            </a:r>
            <a:endParaRPr lang="tr-TR"/>
          </a:p>
          <a:p>
            <a:pPr lvl="4"/>
            <a:r>
              <a:rPr lang="tr-TR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  <a:endParaRPr lang="tr-TR"/>
          </a:p>
          <a:p>
            <a:pPr lvl="1"/>
            <a:r>
              <a:rPr lang="tr-TR"/>
              <a:t>İkinci düzey</a:t>
            </a:r>
            <a:endParaRPr lang="tr-TR"/>
          </a:p>
          <a:p>
            <a:pPr lvl="2"/>
            <a:r>
              <a:rPr lang="tr-TR"/>
              <a:t>Üçüncü düzey</a:t>
            </a:r>
            <a:endParaRPr lang="tr-TR"/>
          </a:p>
          <a:p>
            <a:pPr lvl="3"/>
            <a:r>
              <a:rPr lang="tr-TR"/>
              <a:t>Dördüncü düzey</a:t>
            </a:r>
            <a:endParaRPr lang="tr-TR"/>
          </a:p>
          <a:p>
            <a:pPr lvl="4"/>
            <a:r>
              <a:rPr lang="tr-TR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  <a:endParaRPr lang="tr-TR"/>
          </a:p>
          <a:p>
            <a:pPr lvl="1"/>
            <a:r>
              <a:rPr lang="tr-TR"/>
              <a:t>İkinci düzey</a:t>
            </a:r>
            <a:endParaRPr lang="tr-TR"/>
          </a:p>
          <a:p>
            <a:pPr lvl="2"/>
            <a:r>
              <a:rPr lang="tr-TR"/>
              <a:t>Üçüncü düzey</a:t>
            </a:r>
            <a:endParaRPr lang="tr-TR"/>
          </a:p>
          <a:p>
            <a:pPr lvl="3"/>
            <a:r>
              <a:rPr lang="tr-TR"/>
              <a:t>Dördüncü düzey</a:t>
            </a:r>
            <a:endParaRPr lang="tr-TR"/>
          </a:p>
          <a:p>
            <a:pPr lvl="4"/>
            <a:r>
              <a:rPr lang="tr-TR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kaggle.com/datasets/lava18/google-play-store-apps" TargetMode="Externa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kırpıntı çizim, grafik, sanat içeren bir resim&#10;&#10;Yapay zeka tarafından oluşturulmuş içerik yanlış olabilir.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34A853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5" name="Slayt Numarası Yer Tutucusu 3"/>
          <p:cNvSpPr>
            <a:spLocks noGrp="1"/>
          </p:cNvSpPr>
          <p:nvPr/>
        </p:nvSpPr>
        <p:spPr>
          <a:xfrm>
            <a:off x="5536305" y="6356350"/>
            <a:ext cx="987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tr-TR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19B51A1E-902D-48AF-9020-955120F399B6}" type="slidenum">
              <a:rPr lang="tr-TR" smtClean="0"/>
            </a:fld>
            <a:endParaRPr lang="tr-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renklilik, grafik, tasarım içeren bir resim&#10;&#10;Yapay zeka tarafından oluşturulmuş içerik yanlış olabilir."/>
          <p:cNvPicPr>
            <a:picLocks noChangeAspect="1"/>
          </p:cNvPicPr>
          <p:nvPr/>
        </p:nvPicPr>
        <p:blipFill>
          <a:blip r:embed="rId1">
            <a:alphaModFix amt="13000"/>
          </a:blip>
          <a:srcRect r="888" b="-1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3" name="Başlık 1"/>
          <p:cNvSpPr>
            <a:spLocks noGrp="1"/>
          </p:cNvSpPr>
          <p:nvPr/>
        </p:nvSpPr>
        <p:spPr>
          <a:xfrm>
            <a:off x="2526640" y="952771"/>
            <a:ext cx="7138958" cy="11617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 rtl="0">
              <a:defRPr lang="tr-TR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4400" b="1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FET445 Veri Madenciliği</a:t>
            </a:r>
            <a:endParaRPr lang="tr-TR"/>
          </a:p>
        </p:txBody>
      </p:sp>
      <p:sp>
        <p:nvSpPr>
          <p:cNvPr id="6" name="İçerik Yer Tutucusu 2"/>
          <p:cNvSpPr>
            <a:spLocks noGrp="1"/>
          </p:cNvSpPr>
          <p:nvPr/>
        </p:nvSpPr>
        <p:spPr>
          <a:xfrm>
            <a:off x="1620869" y="2668736"/>
            <a:ext cx="8936127" cy="1525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rtl="0">
              <a:defRPr lang="tr-T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32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Google Play </a:t>
            </a:r>
            <a:r>
              <a:rPr lang="tr-TR" sz="3200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</a:t>
            </a:r>
            <a:r>
              <a:rPr lang="tr-TR" sz="32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Uygulamalarının Popülerlik Analizi ve Tahmin Modeli</a:t>
            </a:r>
            <a:endParaRPr lang="tr-TR" sz="32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Alt Bilgi Yer Tutucusu 4"/>
          <p:cNvSpPr>
            <a:spLocks noGrp="1"/>
          </p:cNvSpPr>
          <p:nvPr/>
        </p:nvSpPr>
        <p:spPr>
          <a:xfrm>
            <a:off x="8373104" y="5752502"/>
            <a:ext cx="3755905" cy="782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tr-TR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>
                <a:solidFill>
                  <a:srgbClr val="3D3D3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Tarih: 08/01/2026</a:t>
            </a:r>
            <a:endParaRPr lang="tr-TR" sz="2800">
              <a:solidFill>
                <a:srgbClr val="3D3D3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Metin kutusu 3"/>
          <p:cNvSpPr txBox="1"/>
          <p:nvPr/>
        </p:nvSpPr>
        <p:spPr>
          <a:xfrm>
            <a:off x="3753352" y="4484298"/>
            <a:ext cx="4669765" cy="10772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 rtl="0"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3200" dirty="0">
                <a:solidFill>
                  <a:srgbClr val="0D0D0D"/>
                </a:solidFill>
                <a:latin typeface="Calibri" panose="020F0502020204030204"/>
                <a:ea typeface="+mn-lt"/>
                <a:cs typeface="+mn-lt"/>
              </a:rPr>
              <a:t>Grup İsmi: </a:t>
            </a:r>
            <a:r>
              <a:rPr lang="tr-TR" sz="3200" dirty="0" err="1">
                <a:solidFill>
                  <a:srgbClr val="0D0D0D"/>
                </a:solidFill>
                <a:latin typeface="Calibri" panose="020F0502020204030204"/>
                <a:ea typeface="+mn-lt"/>
                <a:cs typeface="+mn-lt"/>
              </a:rPr>
              <a:t>Appalytics</a:t>
            </a:r>
            <a:r>
              <a:rPr lang="tr-TR" sz="3200" dirty="0">
                <a:solidFill>
                  <a:srgbClr val="0D0D0D"/>
                </a:solidFill>
                <a:latin typeface="Calibri" panose="020F0502020204030204"/>
                <a:ea typeface="+mn-lt"/>
                <a:cs typeface="+mn-lt"/>
              </a:rPr>
              <a:t> (Uygulama Analistleri)</a:t>
            </a:r>
            <a:endParaRPr lang="tr-TR" sz="3200" dirty="0">
              <a:solidFill>
                <a:srgbClr val="0D0D0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95024" y="404980"/>
            <a:ext cx="8791833" cy="66429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tr-TR" sz="2800" b="1" dirty="0">
              <a:solidFill>
                <a:srgbClr val="4285F4"/>
              </a:solidFill>
              <a:highlight>
                <a:srgbClr val="FFFFFF"/>
              </a:highlight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0" indent="0">
              <a:buNone/>
            </a:pPr>
            <a:r>
              <a:rPr lang="tr-TR" sz="2800" dirty="0">
                <a:solidFill>
                  <a:srgbClr val="34A85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Proje Amacı:</a:t>
            </a:r>
            <a:endParaRPr lang="tr-TR" sz="2800" dirty="0">
              <a:solidFill>
                <a:srgbClr val="34A853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Google Play </a:t>
            </a: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Store'daki</a:t>
            </a: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 uygulamaların başarısını etkileyen faktörleri analiz etmek ve uygulamaların popülerliğini (Rating ve </a:t>
            </a: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Indirme</a:t>
            </a: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 Sayısı) tahmin etmek.</a:t>
            </a:r>
            <a:endParaRPr lang="tr-TR" sz="2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tr-TR" sz="2800" dirty="0">
                <a:solidFill>
                  <a:srgbClr val="34A85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Ana Sorular:</a:t>
            </a:r>
            <a:endParaRPr lang="tr-TR" sz="2800" dirty="0">
              <a:solidFill>
                <a:srgbClr val="34A853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00100" lvl="1" indent="-342900"/>
            <a:r>
              <a:rPr lang="tr-TR" sz="28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Bir uygulamanın yüksek kullanıcı değerlendirmesi (Rating ≥ 4.0) alıp almayacağı nasıl tahmin edilir?</a:t>
            </a:r>
            <a:endParaRPr lang="tr-TR"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685800" lvl="1"/>
            <a:r>
              <a:rPr lang="tr-TR" sz="28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Uygulama kategorisi, boyutu, fiyatı ve diğer özellikler kullanıcı memnuniyetini nasıl etkiler?</a:t>
            </a:r>
            <a:endParaRPr lang="tr-TR"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685800" lvl="1"/>
            <a:r>
              <a:rPr lang="tr-TR" sz="28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Hangi uygulama özellikleri indirme sayısını artırır?</a:t>
            </a:r>
            <a:endParaRPr lang="tr-TR"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tr-TR"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İçerik Yer Tutucusu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39884" y="1943550"/>
            <a:ext cx="3572953" cy="3565525"/>
          </a:xfrm>
          <a:prstGeom prst="rect">
            <a:avLst/>
          </a:prstGeom>
        </p:spPr>
      </p:pic>
      <p:sp>
        <p:nvSpPr>
          <p:cNvPr id="2" name="Metin kutusu 1"/>
          <p:cNvSpPr txBox="1"/>
          <p:nvPr/>
        </p:nvSpPr>
        <p:spPr>
          <a:xfrm>
            <a:off x="3048000" y="409755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tr-TR" sz="3200" b="1" baseline="0" dirty="0">
                <a:solidFill>
                  <a:srgbClr val="4285F4"/>
                </a:solidFill>
                <a:highlight>
                  <a:srgbClr val="FFFFFF"/>
                </a:highlight>
                <a:latin typeface="Calibri" panose="020F0502020204030204"/>
              </a:rPr>
              <a:t>Problemin Açıklaması</a:t>
            </a:r>
            <a:endParaRPr lang="tr-TR" sz="3200" b="1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endParaRPr lang="tr-TR" sz="3200" b="1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42" y="1443488"/>
            <a:ext cx="4192440" cy="3151520"/>
          </a:xfrm>
          <a:prstGeom prst="rect">
            <a:avLst/>
          </a:prstGeom>
        </p:spPr>
      </p:pic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95025" y="1123851"/>
            <a:ext cx="7713533" cy="54639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tr-TR" sz="3200" dirty="0">
                <a:solidFill>
                  <a:srgbClr val="34A85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Veri Kaynağı:</a:t>
            </a:r>
            <a:endParaRPr lang="tr-TR" sz="3200" dirty="0">
              <a:solidFill>
                <a:srgbClr val="34A853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00100" lvl="1" indent="-342900"/>
            <a:r>
              <a:rPr lang="tr-TR" sz="2800" dirty="0" err="1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Kaggle</a:t>
            </a:r>
            <a:r>
              <a:rPr lang="tr-TR" sz="28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 platformu - Google Play </a:t>
            </a:r>
            <a:r>
              <a:rPr lang="tr-TR" sz="2800" dirty="0" err="1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Store</a:t>
            </a:r>
            <a:r>
              <a:rPr lang="tr-TR" sz="28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 herkese açık veri setleri.</a:t>
            </a:r>
            <a:endParaRPr lang="tr-TR" sz="2800" dirty="0">
              <a:solidFill>
                <a:srgbClr val="333333"/>
              </a:solidFill>
              <a:highlight>
                <a:srgbClr val="FFFFFF"/>
              </a:highlight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0" indent="0">
              <a:buNone/>
            </a:pPr>
            <a:r>
              <a:rPr lang="it-IT" sz="3200" dirty="0">
                <a:solidFill>
                  <a:srgbClr val="34A85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Veri Seti Linki</a:t>
            </a:r>
            <a:r>
              <a:rPr lang="tr-TR" sz="3200" dirty="0">
                <a:solidFill>
                  <a:srgbClr val="34A85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:</a:t>
            </a:r>
            <a:br>
              <a:rPr lang="it-IT" sz="3200" dirty="0">
                <a:latin typeface="Calibri" panose="020F0502020204030204"/>
                <a:ea typeface="Calibri" panose="020F0502020204030204"/>
                <a:cs typeface="Calibri" panose="020F0502020204030204"/>
              </a:rPr>
            </a:br>
            <a:r>
              <a:rPr lang="it-IT" dirty="0">
                <a:latin typeface="Calibri" panose="020F0502020204030204"/>
                <a:ea typeface="Calibri" panose="020F0502020204030204"/>
                <a:cs typeface="Calibri" panose="020F0502020204030204"/>
                <a:hlinkClick r:id="rId3"/>
              </a:rPr>
              <a:t>https://www.kaggle.com/datasets/lava18/google-play-store-apps</a:t>
            </a:r>
            <a:r>
              <a:rPr lang="tr-TR" dirty="0"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lang="tr-TR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tr-TR" sz="3200" dirty="0">
                <a:solidFill>
                  <a:srgbClr val="34A85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Boyut (Size):</a:t>
            </a:r>
            <a:endParaRPr lang="tr-TR" sz="3200" dirty="0">
              <a:solidFill>
                <a:srgbClr val="34A853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685800" lvl="1"/>
            <a:r>
              <a:rPr lang="tr-TR" sz="2800" b="1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googleplaystore.csv:</a:t>
            </a:r>
            <a:r>
              <a:rPr lang="tr-TR" sz="28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 Yaklaşık 10.000 uygulama, 13 sütun.</a:t>
            </a:r>
            <a:endParaRPr lang="tr-TR"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685800" lvl="1"/>
            <a:r>
              <a:rPr lang="tr-TR" sz="2800" b="1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googleplaystore_user_reviews.csv:</a:t>
            </a:r>
            <a:r>
              <a:rPr lang="tr-TR" sz="28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 Yaklaşık 64.000 kullanıcı yorumu, 5 sütun.</a:t>
            </a:r>
            <a:endParaRPr lang="tr-TR" sz="2800" dirty="0">
              <a:solidFill>
                <a:srgbClr val="333333"/>
              </a:solidFill>
              <a:highlight>
                <a:srgbClr val="FFFFFF"/>
              </a:highlight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0" indent="0">
              <a:buNone/>
            </a:pPr>
            <a:endParaRPr lang="tr-TR" sz="2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2631057" y="366622"/>
            <a:ext cx="691550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tr-TR" sz="3200" b="1" baseline="0" dirty="0">
                <a:solidFill>
                  <a:srgbClr val="4285F4"/>
                </a:solidFill>
                <a:highlight>
                  <a:srgbClr val="FFFFFF"/>
                </a:highlight>
                <a:latin typeface="Calibri" panose="020F0502020204030204"/>
              </a:rPr>
              <a:t>Veri Seti Açıklaması</a:t>
            </a:r>
            <a:r>
              <a:rPr sz="3200" b="1" dirty="0">
                <a:latin typeface="Calibri" panose="020F0502020204030204"/>
                <a:ea typeface="Calibri" panose="020F0502020204030204"/>
                <a:cs typeface="Calibri" panose="020F0502020204030204"/>
              </a:rPr>
              <a:t>​</a:t>
            </a:r>
            <a:endParaRPr lang="tr-TR" sz="3200" b="1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endParaRPr lang="tr-TR" sz="3200" b="1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/>
          <p:cNvSpPr>
            <a:spLocks noGrp="1"/>
          </p:cNvSpPr>
          <p:nvPr>
            <p:ph type="title"/>
          </p:nvPr>
        </p:nvSpPr>
        <p:spPr>
          <a:xfrm>
            <a:off x="8525931" y="4699001"/>
            <a:ext cx="2184401" cy="324113"/>
          </a:xfrm>
        </p:spPr>
        <p:txBody>
          <a:bodyPr>
            <a:normAutofit fontScale="90000"/>
          </a:bodyPr>
          <a:lstStyle/>
          <a:p>
            <a:r>
              <a:rPr lang="tr-TR" sz="1200" dirty="0">
                <a:latin typeface="Calibri" panose="020F0502020204030204"/>
                <a:ea typeface="Calibri" panose="020F0502020204030204"/>
                <a:cs typeface="Calibri" panose="020F0502020204030204"/>
              </a:rPr>
              <a:t>Şekil 1:Rating dağılım histogramı</a:t>
            </a:r>
            <a:endParaRPr lang="tr-TR"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4294967295"/>
          </p:nvPr>
        </p:nvSpPr>
        <p:spPr>
          <a:xfrm>
            <a:off x="0" y="506413"/>
            <a:ext cx="6737350" cy="58372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tr-TR" sz="3200" dirty="0">
                <a:solidFill>
                  <a:srgbClr val="34A85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Özellik Tipleri:</a:t>
            </a:r>
            <a:endParaRPr lang="tr-TR" sz="3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lvl="1" indent="0">
              <a:buNone/>
            </a:pPr>
            <a:r>
              <a:rPr lang="tr-TR" sz="32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Kategorik (Kategori, İçerik Derecelendirmesi) | Sayısal (Rating, Yorumlar, İndirmeler, Fiyat) | Tarihsel (Son Güncelleme)</a:t>
            </a:r>
            <a:endParaRPr lang="tr-TR" sz="3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tr-TR" sz="3200" dirty="0">
                <a:solidFill>
                  <a:srgbClr val="34A85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Sınıf Dengesi:</a:t>
            </a:r>
            <a:endParaRPr lang="tr-TR" sz="3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lvl="1" indent="0">
              <a:buNone/>
            </a:pPr>
            <a:r>
              <a:rPr lang="tr-TR" sz="32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Rating ≥ 4.0 değerlerinin çoğunlukta olması nedeniyle veri setinde sınıf dengesizliği (</a:t>
            </a:r>
            <a:r>
              <a:rPr lang="tr-TR" sz="3200" dirty="0" err="1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class</a:t>
            </a:r>
            <a:r>
              <a:rPr lang="tr-TR" sz="32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tr-TR" sz="3200" dirty="0" err="1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imbalance</a:t>
            </a:r>
            <a:r>
              <a:rPr lang="tr-TR" sz="3200" dirty="0">
                <a:solidFill>
                  <a:srgbClr val="333333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) bulunmaktadır. Bu durum, değerlendirme aşamasında F1-score ve ROC AUC gibi metriklerin kullanılmasını gerektirmiştir.</a:t>
            </a:r>
            <a:endParaRPr lang="tr-TR" sz="3200" dirty="0">
              <a:solidFill>
                <a:srgbClr val="333333"/>
              </a:solidFill>
              <a:highlight>
                <a:srgbClr val="FFFFFF"/>
              </a:highlight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lvl="1" indent="-285750">
              <a:buFont typeface="Arial,Sans-Serif" panose="020B0604020202020204" pitchFamily="34" charset="0"/>
            </a:pPr>
            <a:endParaRPr lang="tr-TR" sz="3200" dirty="0">
              <a:solidFill>
                <a:srgbClr val="333333"/>
              </a:solidFill>
              <a:highlight>
                <a:srgbClr val="FFFFFF"/>
              </a:highlight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350" y="1237140"/>
            <a:ext cx="5041243" cy="34618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460076" y="309113"/>
            <a:ext cx="8281358" cy="6247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sz="2500" b="1">
              <a:solidFill>
                <a:srgbClr val="4285F4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endParaRPr lang="en-US" sz="2500" b="1">
              <a:solidFill>
                <a:srgbClr val="4285F4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r>
              <a:rPr lang="en-US" sz="25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Özellik</a:t>
            </a:r>
            <a:r>
              <a:rPr lang="en-US" sz="25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Mühendisliği</a:t>
            </a:r>
            <a:r>
              <a:rPr lang="en-US" sz="25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(Feature Engineering):</a:t>
            </a:r>
            <a:endParaRPr lang="en-US" sz="2500" b="1" dirty="0">
              <a:solidFill>
                <a:srgbClr val="34A85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Yorum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Oranı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(Reviews Ratio) -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İndirmelere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göre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yorum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oranı</a:t>
            </a:r>
            <a:endParaRPr lang="en-US" sz="25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Uygulama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Yaşı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(App Age) - Son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güncelleme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tarihinden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itibaren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geçen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gün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sayısı</a:t>
            </a:r>
            <a:endParaRPr lang="en-US" sz="25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Fiyat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Kategorisi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(Price Category) -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Ücretsiz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/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Ücretli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sınıflandırması</a:t>
            </a:r>
            <a:endParaRPr lang="en-US" sz="25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Ortalama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Duyarlılık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(Average Sentiment) -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Kullanıcı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duygusunun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metrik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değeri</a:t>
            </a:r>
            <a:endParaRPr lang="en-US" sz="25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r>
              <a:rPr lang="en-US" sz="25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Veri </a:t>
            </a:r>
            <a:r>
              <a:rPr lang="en-US" sz="25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İşleme</a:t>
            </a:r>
            <a:r>
              <a:rPr lang="en-US" sz="25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Teknikleri</a:t>
            </a:r>
            <a:r>
              <a:rPr lang="en-US" sz="25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:</a:t>
            </a:r>
            <a:endParaRPr lang="en-US" sz="2500" b="1" dirty="0">
              <a:solidFill>
                <a:srgbClr val="34A85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Veri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temizleme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ve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özel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sembollerin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kaldırılması</a:t>
            </a:r>
            <a:endParaRPr lang="en-US" sz="2500" dirty="0">
              <a:solidFill>
                <a:srgbClr val="333333"/>
              </a:solidFill>
              <a:latin typeface="Calibri" panose="020F0502020204030204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Eksik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değerlerin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doldurulması</a:t>
            </a:r>
            <a:endParaRPr lang="en-US" sz="25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Aykırı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değerler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için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logaritmik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dönüşüm</a:t>
            </a:r>
            <a:endParaRPr lang="en-US" sz="25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Standardizasyon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 (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StandardScaler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)</a:t>
            </a:r>
            <a:endParaRPr lang="en-US" sz="2500" dirty="0">
              <a:solidFill>
                <a:srgbClr val="333333"/>
              </a:solidFill>
              <a:latin typeface="Calibri" panose="020F0502020204030204"/>
              <a:cs typeface="Segoe UI" panose="020B0502040204020203"/>
            </a:endParaRPr>
          </a:p>
          <a:p>
            <a:pPr algn="ctr"/>
            <a:endParaRPr lang="tr-TR" sz="25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Resim 4" descr="ekran görüntüsü, diyagram, tasarım içeren bir resim&#10;&#10;Yapay zeka tarafından oluşturulmuş içerik yanlış olabilir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1412" y="2292110"/>
            <a:ext cx="4333516" cy="2273780"/>
          </a:xfrm>
          <a:prstGeom prst="rect">
            <a:avLst/>
          </a:prstGeom>
        </p:spPr>
      </p:pic>
      <p:sp>
        <p:nvSpPr>
          <p:cNvPr id="2" name="Metin kutusu 1"/>
          <p:cNvSpPr txBox="1"/>
          <p:nvPr/>
        </p:nvSpPr>
        <p:spPr>
          <a:xfrm>
            <a:off x="3632358" y="304403"/>
            <a:ext cx="49429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3200" b="1" dirty="0">
                <a:solidFill>
                  <a:srgbClr val="4285F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Veri </a:t>
            </a:r>
            <a:r>
              <a:rPr lang="en-US" sz="3200" b="1" err="1">
                <a:solidFill>
                  <a:srgbClr val="4285F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Hazırlama</a:t>
            </a:r>
            <a:r>
              <a:rPr lang="en-US" sz="3200" b="1" dirty="0">
                <a:solidFill>
                  <a:srgbClr val="4285F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200" b="1" err="1">
                <a:solidFill>
                  <a:srgbClr val="4285F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Planı</a:t>
            </a:r>
            <a:endParaRPr lang="tr-TR"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359434" y="424132"/>
            <a:ext cx="5722189" cy="70173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sz="2500" b="1" dirty="0">
              <a:solidFill>
                <a:srgbClr val="4285F4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endParaRPr lang="en-US" sz="2500" b="1">
              <a:solidFill>
                <a:srgbClr val="4285F4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r>
              <a:rPr lang="en-US" sz="25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Kullanılan</a:t>
            </a:r>
            <a:r>
              <a:rPr lang="en-US" sz="25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Teknikler</a:t>
            </a:r>
            <a:r>
              <a:rPr lang="en-US" sz="25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:</a:t>
            </a:r>
            <a:endParaRPr lang="en-US" sz="2500" b="1" dirty="0">
              <a:solidFill>
                <a:srgbClr val="34A85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r>
              <a:rPr lang="en-US" sz="2500" b="1" dirty="0">
                <a:solidFill>
                  <a:srgbClr val="F9BC03"/>
                </a:solidFill>
                <a:latin typeface="Calibri" panose="020F0502020204030204"/>
                <a:cs typeface="Segoe UI" panose="020B0502040204020203"/>
              </a:rPr>
              <a:t>Feature Selection &amp; Dimensionality Reduction </a:t>
            </a:r>
            <a:r>
              <a:rPr lang="en-US" sz="2500" b="1" dirty="0" err="1">
                <a:solidFill>
                  <a:srgbClr val="F9BC03"/>
                </a:solidFill>
                <a:latin typeface="Calibri" panose="020F0502020204030204"/>
                <a:cs typeface="Segoe UI" panose="020B0502040204020203"/>
              </a:rPr>
              <a:t>Teknikleri</a:t>
            </a:r>
            <a:r>
              <a:rPr lang="en-US" sz="2500" b="1" dirty="0">
                <a:solidFill>
                  <a:srgbClr val="F9BC0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:</a:t>
            </a:r>
            <a:endParaRPr lang="en-US" dirty="0"/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SelectFromModel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(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RandomForest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)</a:t>
            </a:r>
            <a:endParaRPr lang="en-US" sz="25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PCA (Temel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Bileşen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Analizi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)</a:t>
            </a:r>
            <a:endParaRPr lang="en-US" sz="25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RFE (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Yinelemeli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Özellik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Eleme)</a:t>
            </a:r>
            <a:endParaRPr lang="en-US" sz="25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ANOVA F-Test (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SelectKBest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)</a:t>
            </a:r>
            <a:endParaRPr lang="en-US" sz="25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endParaRPr lang="en-US" sz="2500"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r>
              <a:rPr lang="en-US" sz="2500" b="1" dirty="0" err="1">
                <a:solidFill>
                  <a:srgbClr val="F9BC0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Avantajları</a:t>
            </a:r>
            <a:r>
              <a:rPr lang="en-US" sz="2500" b="1" dirty="0">
                <a:solidFill>
                  <a:srgbClr val="F9BC0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:</a:t>
            </a:r>
            <a:endParaRPr lang="en-US" sz="2500" b="1" dirty="0">
              <a:solidFill>
                <a:srgbClr val="F9BC0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Boyut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indirgemesi</a:t>
            </a:r>
            <a:endParaRPr lang="en-US" sz="250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Model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performansı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iyileştirme</a:t>
            </a:r>
            <a:endParaRPr lang="en-US" sz="250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Hesaplama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süresini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azaltma</a:t>
            </a:r>
            <a:endParaRPr lang="en-US" sz="250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Model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yorumlanabilirliğini</a:t>
            </a:r>
            <a:r>
              <a:rPr lang="en-US" sz="25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artırma</a:t>
            </a:r>
            <a:endParaRPr lang="en-US" sz="250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endParaRPr lang="en-US" sz="2500">
              <a:solidFill>
                <a:srgbClr val="EA4235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endParaRPr lang="en-US" sz="2500" b="1">
              <a:solidFill>
                <a:srgbClr val="F9BC0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algn="ctr"/>
            <a:endParaRPr lang="tr-TR" sz="25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6535791" y="1591357"/>
            <a:ext cx="467879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500" b="1">
                <a:solidFill>
                  <a:srgbClr val="F9BC0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Train-Test </a:t>
            </a:r>
            <a:r>
              <a:rPr lang="en-US" sz="2500" b="1" err="1">
                <a:solidFill>
                  <a:srgbClr val="F9BC0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Oranı</a:t>
            </a:r>
            <a:r>
              <a:rPr lang="en-US" sz="2500" b="1">
                <a:solidFill>
                  <a:srgbClr val="F9BC0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:</a:t>
            </a:r>
            <a:endParaRPr lang="en-US" sz="25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2500" b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%80 </a:t>
            </a:r>
            <a:r>
              <a:rPr lang="en-US" sz="2500" b="1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Eğitim</a:t>
            </a:r>
            <a:r>
              <a:rPr lang="en-US" sz="2500" b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- %20 Test</a:t>
            </a:r>
            <a:r>
              <a:rPr lang="en-US" sz="250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 </a:t>
            </a:r>
            <a:r>
              <a:rPr lang="en-US" sz="250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ve</a:t>
            </a:r>
            <a:r>
              <a:rPr lang="en-US" sz="250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5-Katmanlı </a:t>
            </a:r>
            <a:r>
              <a:rPr lang="en-US" sz="250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Çapraz</a:t>
            </a:r>
            <a:r>
              <a:rPr lang="en-US" sz="250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250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Doğrulama</a:t>
            </a:r>
            <a:r>
              <a:rPr lang="en-US" sz="250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250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ile</a:t>
            </a:r>
            <a:r>
              <a:rPr lang="en-US" sz="250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250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değerlendirilecek</a:t>
            </a:r>
            <a:endParaRPr lang="tr-TR" err="1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44751" y="3427562"/>
            <a:ext cx="3252159" cy="3295291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3087305" y="417026"/>
            <a:ext cx="60212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3200" b="1" err="1">
                <a:solidFill>
                  <a:srgbClr val="4285F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Özellik</a:t>
            </a:r>
            <a:r>
              <a:rPr lang="en-US" sz="3200" b="1" dirty="0">
                <a:solidFill>
                  <a:srgbClr val="4285F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200" b="1" err="1">
                <a:solidFill>
                  <a:srgbClr val="4285F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Seçimi</a:t>
            </a:r>
            <a:r>
              <a:rPr lang="en-US" sz="3200" b="1" dirty="0">
                <a:solidFill>
                  <a:srgbClr val="4285F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(Feature Selection)</a:t>
            </a:r>
            <a:endParaRPr lang="tr-TR"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505623"/>
            <a:ext cx="5901985" cy="569400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tr-TR" sz="2800" b="1" dirty="0">
              <a:solidFill>
                <a:srgbClr val="667EEA"/>
              </a:solidFill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0" indent="0">
              <a:buNone/>
            </a:pPr>
            <a:r>
              <a:rPr lang="tr-TR" sz="28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Temel Modeller (</a:t>
            </a:r>
            <a:r>
              <a:rPr lang="tr-TR" sz="28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Baseline</a:t>
            </a:r>
            <a:r>
              <a:rPr lang="tr-TR" sz="28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):</a:t>
            </a:r>
            <a:endParaRPr lang="tr-TR" sz="2800" b="1" dirty="0">
              <a:solidFill>
                <a:srgbClr val="34A85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Logistic</a:t>
            </a: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Regression</a:t>
            </a:r>
            <a:endParaRPr lang="tr-TR" sz="28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>
              <a:buFont typeface="Arial" panose="020B0604020202020204"/>
              <a:buChar char="•"/>
            </a:pP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Decision</a:t>
            </a: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Tree</a:t>
            </a: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(Karar Ağacı)</a:t>
            </a:r>
            <a:endParaRPr lang="tr-TR" sz="28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>
              <a:buFont typeface="Arial" panose="020B0604020202020204"/>
              <a:buChar char="•"/>
            </a:pP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KNN (k-En Yakın Komşu)</a:t>
            </a:r>
            <a:endParaRPr lang="tr-TR" sz="28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>
              <a:buFont typeface="Arial" panose="020B0604020202020204"/>
              <a:buChar char="•"/>
            </a:pPr>
            <a:endParaRPr lang="tr-TR" sz="2800" dirty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0" indent="0">
              <a:buNone/>
            </a:pPr>
            <a:r>
              <a:rPr lang="tr-TR" sz="2800" b="1" dirty="0" err="1">
                <a:solidFill>
                  <a:srgbClr val="34A85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Hiperparametre</a:t>
            </a:r>
            <a:r>
              <a:rPr lang="tr-TR" sz="2800" b="1" dirty="0">
                <a:solidFill>
                  <a:srgbClr val="34A85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 Ayarlama:</a:t>
            </a:r>
            <a:endParaRPr lang="en-US" sz="2800" dirty="0">
              <a:solidFill>
                <a:srgbClr val="34A853"/>
              </a:solidFill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GridSearchCV</a:t>
            </a: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 ve </a:t>
            </a: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RandomizedSearchCV</a:t>
            </a: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 yöntemleri ile en uygun parametreler bulunacak</a:t>
            </a:r>
            <a:endParaRPr lang="tr-TR" sz="2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>
              <a:buFont typeface="Arial" panose="020B0604020202020204"/>
              <a:buChar char="•"/>
            </a:pPr>
            <a:endParaRPr lang="tr-TR" sz="2800" dirty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Segoe UI" panose="020B0502040204020203"/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6913395" y="1077565"/>
            <a:ext cx="4885425" cy="36215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tr-TR" sz="2800" b="1" dirty="0">
                <a:solidFill>
                  <a:srgbClr val="34A85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Gelişmiş Modeller (Advanced):</a:t>
            </a:r>
            <a:endParaRPr lang="en-US" sz="2800">
              <a:solidFill>
                <a:srgbClr val="34A853"/>
              </a:solidFill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342900" indent="-342900">
              <a:lnSpc>
                <a:spcPct val="120000"/>
              </a:lnSpc>
              <a:spcBef>
                <a:spcPts val="1000"/>
              </a:spcBef>
              <a:buFont typeface="Arial" panose="020B0604020202020204"/>
              <a:buChar char="•"/>
            </a:pP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Random</a:t>
            </a: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 </a:t>
            </a: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Forest</a:t>
            </a:r>
            <a:endParaRPr lang="tr-TR" sz="2800" dirty="0"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342900" indent="-342900">
              <a:lnSpc>
                <a:spcPct val="120000"/>
              </a:lnSpc>
              <a:spcBef>
                <a:spcPts val="1000"/>
              </a:spcBef>
              <a:buFont typeface="Arial" panose="020B0604020202020204"/>
              <a:buChar char="•"/>
            </a:pP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XGBoost</a:t>
            </a:r>
            <a:endParaRPr lang="tr-TR" sz="2800" dirty="0"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342900" indent="-342900">
              <a:lnSpc>
                <a:spcPct val="120000"/>
              </a:lnSpc>
              <a:spcBef>
                <a:spcPts val="1000"/>
              </a:spcBef>
              <a:buFont typeface="Arial" panose="020B0604020202020204"/>
              <a:buChar char="•"/>
            </a:pP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Gradient</a:t>
            </a: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 </a:t>
            </a:r>
            <a:r>
              <a:rPr lang="tr-TR" sz="2800" dirty="0" err="1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Boosting</a:t>
            </a:r>
            <a:endParaRPr lang="tr-TR" sz="2800" dirty="0"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342900" indent="-342900">
              <a:lnSpc>
                <a:spcPct val="120000"/>
              </a:lnSpc>
              <a:spcBef>
                <a:spcPts val="1000"/>
              </a:spcBef>
              <a:buFont typeface="Arial" panose="020B0604020202020204"/>
              <a:buChar char="•"/>
            </a:pPr>
            <a:r>
              <a:rPr lang="tr-TR" sz="2800" dirty="0">
                <a:solidFill>
                  <a:srgbClr val="333333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SVM (RBF Kernel ile)</a:t>
            </a:r>
            <a:endParaRPr lang="tr-TR" sz="2800"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endParaRPr lang="tr-TR"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İçerik Yer Tutucusu 3"/>
          <p:cNvPicPr>
            <a:picLocks noGrp="1"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71991" y="4462433"/>
            <a:ext cx="2452777" cy="2481532"/>
          </a:xfrm>
          <a:prstGeom prst="rect">
            <a:avLst/>
          </a:prstGeom>
        </p:spPr>
      </p:pic>
      <p:sp>
        <p:nvSpPr>
          <p:cNvPr id="2" name="Metin kutusu 1"/>
          <p:cNvSpPr txBox="1"/>
          <p:nvPr/>
        </p:nvSpPr>
        <p:spPr>
          <a:xfrm>
            <a:off x="4030394" y="203817"/>
            <a:ext cx="41216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tr-TR" sz="3200" b="1" dirty="0">
                <a:solidFill>
                  <a:srgbClr val="667EEA"/>
                </a:solidFill>
                <a:latin typeface="Calibri" panose="020F0502020204030204"/>
                <a:ea typeface="Calibri" panose="020F0502020204030204"/>
                <a:cs typeface="Segoe UI" panose="020B0502040204020203"/>
              </a:rPr>
              <a:t>Model Geliştirme</a:t>
            </a:r>
            <a:endParaRPr lang="tr-TR"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258793" y="165340"/>
            <a:ext cx="9359660" cy="72481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sz="3100" b="1" dirty="0">
              <a:solidFill>
                <a:srgbClr val="667EEA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endParaRPr lang="en-US" sz="3100" b="1" dirty="0">
              <a:solidFill>
                <a:srgbClr val="667EEA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r>
              <a:rPr lang="en-US" sz="3100" b="1" dirty="0" err="1">
                <a:solidFill>
                  <a:srgbClr val="34A853"/>
                </a:solidFill>
                <a:latin typeface="Calibri" panose="020F0502020204030204"/>
                <a:cs typeface="Segoe UI" panose="020B0502040204020203"/>
              </a:rPr>
              <a:t>Görev</a:t>
            </a:r>
            <a:r>
              <a:rPr lang="en-US" sz="3100" b="1" dirty="0">
                <a:solidFill>
                  <a:srgbClr val="34A853"/>
                </a:solidFill>
                <a:latin typeface="Calibri" panose="020F0502020204030204"/>
                <a:cs typeface="Segoe UI" panose="020B0502040204020203"/>
              </a:rPr>
              <a:t> </a:t>
            </a:r>
            <a:r>
              <a:rPr lang="en-US" sz="3100" b="1" dirty="0" err="1">
                <a:solidFill>
                  <a:srgbClr val="34A853"/>
                </a:solidFill>
                <a:latin typeface="Calibri" panose="020F0502020204030204"/>
                <a:cs typeface="Segoe UI" panose="020B0502040204020203"/>
              </a:rPr>
              <a:t>Türü</a:t>
            </a:r>
            <a:r>
              <a:rPr lang="en-US" sz="3100" b="1" dirty="0">
                <a:solidFill>
                  <a:srgbClr val="34A853"/>
                </a:solidFill>
                <a:latin typeface="Calibri" panose="020F0502020204030204"/>
                <a:cs typeface="Segoe UI" panose="020B0502040204020203"/>
              </a:rPr>
              <a:t>:</a:t>
            </a:r>
            <a:br>
              <a:rPr lang="en-US" sz="3100" b="1" dirty="0">
                <a:ea typeface="+mn-lt"/>
                <a:cs typeface="+mn-lt"/>
              </a:rPr>
            </a:b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Sınıflandırma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 (High Rating ≥ 4.0) +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Regresyon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 (Rating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tahmini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cs typeface="Segoe UI" panose="020B0502040204020203"/>
              </a:rPr>
              <a:t>)</a:t>
            </a:r>
            <a:endParaRPr lang="en-US" sz="3100" dirty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r>
              <a:rPr lang="en-US" sz="31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Sınıflandırma</a:t>
            </a:r>
            <a:r>
              <a:rPr lang="en-US" sz="31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Metrikleri</a:t>
            </a:r>
            <a:r>
              <a:rPr lang="en-US" sz="31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:</a:t>
            </a:r>
            <a:endParaRPr lang="en-US" sz="3100" b="1" dirty="0">
              <a:solidFill>
                <a:srgbClr val="34A853"/>
              </a:solidFill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3100" b="1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ROC AUC ≥ 0.80: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 Model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ayırt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etme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gücü</a:t>
            </a:r>
            <a:endParaRPr lang="en-US" sz="31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3100" b="1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F1-Score ≥ 0.75: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 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Duyarlılık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ve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Geri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Çağırma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dengesi</a:t>
            </a:r>
            <a:endParaRPr lang="en-US" sz="31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3100" b="1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Precision ≥ 0.75: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 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Yanlış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pozitifleri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minimize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etme</a:t>
            </a:r>
            <a:endParaRPr lang="en-US" sz="31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3100" b="1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Recall ≥ 0.70: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 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Başarılı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uygulamaları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yakalama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oranı</a:t>
            </a:r>
            <a:endParaRPr lang="en-US" sz="31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r>
              <a:rPr lang="en-US" sz="31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Regresyon</a:t>
            </a:r>
            <a:r>
              <a:rPr lang="en-US" sz="31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b="1" dirty="0" err="1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Metrikleri</a:t>
            </a:r>
            <a:r>
              <a:rPr lang="en-US" sz="3100" b="1" dirty="0">
                <a:solidFill>
                  <a:srgbClr val="34A85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:</a:t>
            </a:r>
            <a:endParaRPr lang="en-US" sz="3100" b="1" dirty="0">
              <a:solidFill>
                <a:srgbClr val="34A85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3100" b="1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MAE ≤ 0.30: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 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Ortalama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Mutlak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Hata</a:t>
            </a:r>
            <a:endParaRPr lang="en-US" sz="31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3100" b="1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RMSE ≤ 0.40: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 Kök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Ortalama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Kare Hata</a:t>
            </a:r>
            <a:endParaRPr lang="en-US" sz="31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3100" b="1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R² ≥ 0.65: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 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Açıklanan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</a:t>
            </a:r>
            <a:r>
              <a:rPr lang="en-US" sz="3100" dirty="0" err="1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Varyans</a:t>
            </a:r>
            <a:r>
              <a:rPr lang="en-US" sz="3100" dirty="0">
                <a:solidFill>
                  <a:srgbClr val="333333"/>
                </a:solidFill>
                <a:latin typeface="Calibri" panose="020F0502020204030204"/>
                <a:ea typeface="Segoe UI" panose="020B0502040204020203"/>
                <a:cs typeface="Segoe UI" panose="020B0502040204020203"/>
              </a:rPr>
              <a:t> Oran</a:t>
            </a:r>
            <a:endParaRPr lang="en-US" sz="31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algn="ctr"/>
            <a:endParaRPr lang="tr-TR" sz="31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Segoe UI" panose="020B0502040204020203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74348" y="2181046"/>
            <a:ext cx="3372928" cy="3344173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3433567" y="326066"/>
            <a:ext cx="533112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3100" b="1" err="1">
                <a:solidFill>
                  <a:srgbClr val="667EEA"/>
                </a:solidFill>
                <a:latin typeface="Segoe UI" panose="020B0502040204020203"/>
                <a:cs typeface="Segoe UI" panose="020B0502040204020203"/>
              </a:rPr>
              <a:t>Performans</a:t>
            </a:r>
            <a:r>
              <a:rPr lang="en-US" sz="3100" b="1" dirty="0">
                <a:solidFill>
                  <a:srgbClr val="667EEA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lang="en-US" sz="3200" b="1" err="1">
                <a:solidFill>
                  <a:srgbClr val="667EEA"/>
                </a:solidFill>
                <a:latin typeface="Segoe UI" panose="020B0502040204020203"/>
                <a:cs typeface="Segoe UI" panose="020B0502040204020203"/>
              </a:rPr>
              <a:t>Metrikleri</a:t>
            </a:r>
            <a:endParaRPr lang="tr-TR" sz="3200" err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206715" y="1224990"/>
            <a:ext cx="1172281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sz="2800" b="1" dirty="0">
              <a:solidFill>
                <a:srgbClr val="667EEA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endParaRPr lang="en-US" sz="28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endParaRPr lang="en-US" sz="28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pPr algn="ctr"/>
            <a:endParaRPr lang="tr-TR"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Metin kutusu 1"/>
          <p:cNvSpPr txBox="1"/>
          <p:nvPr/>
        </p:nvSpPr>
        <p:spPr>
          <a:xfrm>
            <a:off x="3310569" y="317049"/>
            <a:ext cx="557553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3200" b="1" err="1">
                <a:solidFill>
                  <a:srgbClr val="667EE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Modellerin</a:t>
            </a:r>
            <a:r>
              <a:rPr lang="en-US" sz="3200" b="1" dirty="0">
                <a:solidFill>
                  <a:srgbClr val="667EE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200" b="1" err="1">
                <a:solidFill>
                  <a:srgbClr val="667EE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Karşılaştırılması</a:t>
            </a:r>
            <a:endParaRPr lang="tr-TR"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5" name="Tablo 4"/>
          <p:cNvGraphicFramePr>
            <a:graphicFrameLocks noGrp="1"/>
          </p:cNvGraphicFramePr>
          <p:nvPr/>
        </p:nvGraphicFramePr>
        <p:xfrm>
          <a:off x="838200" y="1581150"/>
          <a:ext cx="10515600" cy="3608864"/>
        </p:xfrm>
        <a:graphic>
          <a:graphicData uri="http://schemas.openxmlformats.org/drawingml/2006/table">
            <a:tbl>
              <a:tblPr/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789439">
                <a:tc>
                  <a:txBody>
                    <a:bodyPr/>
                    <a:lstStyle/>
                    <a:p>
                      <a:r>
                        <a:rPr lang="tr-TR" sz="2000" b="1">
                          <a:solidFill>
                            <a:srgbClr val="667EE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tr-TR" sz="2000" b="1">
                        <a:solidFill>
                          <a:srgbClr val="667EE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1">
                          <a:solidFill>
                            <a:srgbClr val="667EE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Özellik Seçimi / Dönüşüm</a:t>
                      </a:r>
                      <a:endParaRPr lang="tr-TR" sz="2000" b="1">
                        <a:solidFill>
                          <a:srgbClr val="667EE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1" dirty="0" err="1">
                          <a:solidFill>
                            <a:srgbClr val="667EE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Accuracy</a:t>
                      </a:r>
                      <a:endParaRPr lang="tr-TR" sz="2000" b="1" dirty="0">
                        <a:solidFill>
                          <a:srgbClr val="667EE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1" dirty="0">
                          <a:solidFill>
                            <a:srgbClr val="667EE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Precision</a:t>
                      </a:r>
                      <a:endParaRPr lang="tr-TR" sz="2000" b="1" dirty="0">
                        <a:solidFill>
                          <a:srgbClr val="667EE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1" dirty="0" err="1">
                          <a:solidFill>
                            <a:srgbClr val="667EE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Recall</a:t>
                      </a:r>
                      <a:endParaRPr lang="tr-TR" sz="2000" b="1" dirty="0">
                        <a:solidFill>
                          <a:srgbClr val="667EE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1" dirty="0">
                          <a:solidFill>
                            <a:srgbClr val="667EE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F1-Score</a:t>
                      </a:r>
                      <a:endParaRPr lang="tr-TR" sz="2000" b="1" dirty="0">
                        <a:solidFill>
                          <a:srgbClr val="667EE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89439"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Logistic Regression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Standartlaştırma + SelectKBest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0.78</a:t>
                      </a:r>
                      <a:endParaRPr lang="tr-T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0.74</a:t>
                      </a:r>
                      <a:endParaRPr lang="tr-T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0.71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0.72</a:t>
                      </a:r>
                      <a:endParaRPr lang="tr-TR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9439"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K-Nearest Neighbors (KNN)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Ölçeklendirme + PCA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0.75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0.70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0.69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0.69</a:t>
                      </a:r>
                      <a:endParaRPr lang="tr-TR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108"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Naive Bayes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Sayısal Özellikler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0.72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0.68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0.66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0.67</a:t>
                      </a:r>
                      <a:endParaRPr lang="tr-TR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9439"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Decision Tree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 Selection (RFE)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0.80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0.77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0.75</a:t>
                      </a:r>
                      <a:endParaRPr lang="tr-TR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0.76</a:t>
                      </a:r>
                      <a:endParaRPr lang="tr-TR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06716" y="5524134"/>
            <a:ext cx="1218708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tr-TR" altLang="tr-T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kumimoji="0" lang="tr-TR" altLang="tr-TR" sz="24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</a:t>
            </a:r>
            <a:r>
              <a:rPr kumimoji="0" lang="tr-TR" altLang="tr-T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4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</a:t>
            </a:r>
            <a:r>
              <a:rPr kumimoji="0" lang="tr-TR" altLang="tr-T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modeli, </a:t>
            </a:r>
            <a:r>
              <a:rPr kumimoji="0" lang="tr-TR" altLang="tr-TR" sz="24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kumimoji="0" lang="tr-TR" altLang="tr-T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4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kumimoji="0" lang="tr-TR" altLang="tr-T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sonrasında en yüksek F1-score değerine ulaşmıştır.</a:t>
            </a:r>
            <a:endParaRPr kumimoji="0" lang="tr-TR" altLang="tr-TR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tr-TR" altLang="tr-T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kumimoji="0" lang="tr-TR" altLang="tr-T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 seti dengesiz olduğu için </a:t>
            </a:r>
            <a:r>
              <a:rPr kumimoji="0" lang="tr-TR" altLang="tr-TR" sz="24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kumimoji="0" lang="tr-TR" altLang="tr-TR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yerine F1-score dikkate alınmıştır.</a:t>
            </a:r>
            <a:endParaRPr kumimoji="0" lang="tr-TR" altLang="tr-TR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575095" y="1071115"/>
            <a:ext cx="8626415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sz="3000" b="1">
              <a:solidFill>
                <a:srgbClr val="667EEA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br>
              <a:rPr lang="en-US" sz="3000" b="1" dirty="0">
                <a:ea typeface="+mn-lt"/>
                <a:cs typeface="+mn-lt"/>
              </a:rPr>
            </a:b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Bu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çalışma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kapsamında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Google Play Store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uygulamalarının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başarısını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etkileyen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temel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faktörler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analiz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edilmiş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ve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hem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sınıflandırma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hem de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regresyon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görevleri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için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başarılı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tahmin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modelleri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600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geliştirilmiştir</a:t>
            </a:r>
            <a:r>
              <a:rPr lang="en-US" sz="3600" dirty="0"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lang="en-US" sz="3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Font typeface="Arial" panose="020B0604020202020204"/>
              <a:buChar char="•"/>
            </a:pPr>
            <a:endParaRPr lang="en-US" sz="3000" dirty="0">
              <a:solidFill>
                <a:srgbClr val="333333"/>
              </a:solidFill>
              <a:latin typeface="Calibri" panose="020F0502020204030204"/>
              <a:ea typeface="Segoe UI" panose="020B0502040204020203"/>
              <a:cs typeface="Segoe UI" panose="020B0502040204020203"/>
            </a:endParaRPr>
          </a:p>
          <a:p>
            <a:endParaRPr lang="tr-TR"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8" name="İçerik Yer Tutucusu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5599" y="2116078"/>
            <a:ext cx="2645375" cy="2630997"/>
          </a:xfrm>
          <a:prstGeom prst="rect">
            <a:avLst/>
          </a:prstGeom>
        </p:spPr>
      </p:pic>
      <p:sp>
        <p:nvSpPr>
          <p:cNvPr id="2" name="Metin kutusu 1"/>
          <p:cNvSpPr txBox="1"/>
          <p:nvPr/>
        </p:nvSpPr>
        <p:spPr>
          <a:xfrm>
            <a:off x="3678773" y="501876"/>
            <a:ext cx="482791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3200" b="1" err="1">
                <a:solidFill>
                  <a:srgbClr val="667EE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Sonuç</a:t>
            </a:r>
            <a:r>
              <a:rPr lang="en-US" sz="3200" b="1" dirty="0">
                <a:solidFill>
                  <a:srgbClr val="667EE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200" b="1" err="1">
                <a:solidFill>
                  <a:srgbClr val="667EE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ve</a:t>
            </a:r>
            <a:r>
              <a:rPr lang="en-US" sz="3200" b="1" dirty="0">
                <a:solidFill>
                  <a:srgbClr val="667EE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3200" b="1" err="1">
                <a:solidFill>
                  <a:srgbClr val="667EE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Değerlendirme</a:t>
            </a:r>
            <a:endParaRPr lang="tr-TR" sz="3200" b="1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/>
            <a:endParaRPr lang="tr-TR" sz="3200" b="1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kırpıntı çizim, grafik, sanat içeren bir resim&#10;&#10;Yapay zeka tarafından oluşturulmuş içerik yanlış olabilir."/>
          <p:cNvPicPr>
            <a:picLocks noChangeAspect="1"/>
          </p:cNvPicPr>
          <p:nvPr/>
        </p:nvPicPr>
        <p:blipFill>
          <a:blip r:embed="rId1">
            <a:alphaModFix amt="11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34A853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5" name="Slayt Numarası Yer Tutucusu 3"/>
          <p:cNvSpPr>
            <a:spLocks noGrp="1"/>
          </p:cNvSpPr>
          <p:nvPr/>
        </p:nvSpPr>
        <p:spPr>
          <a:xfrm>
            <a:off x="5536305" y="6356350"/>
            <a:ext cx="987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tr-TR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19B51A1E-902D-48AF-9020-955120F399B6}" type="slidenum">
              <a:rPr lang="tr-TR" smtClean="0"/>
            </a:fld>
            <a:endParaRPr lang="tr-TR"/>
          </a:p>
        </p:txBody>
      </p:sp>
      <p:sp>
        <p:nvSpPr>
          <p:cNvPr id="2" name="Metin kutusu 1"/>
          <p:cNvSpPr txBox="1"/>
          <p:nvPr/>
        </p:nvSpPr>
        <p:spPr>
          <a:xfrm>
            <a:off x="2523901" y="2002648"/>
            <a:ext cx="704203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tr-TR" sz="3600" b="1" dirty="0">
                <a:solidFill>
                  <a:srgbClr val="4285F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Teşekkür Ederiz</a:t>
            </a:r>
            <a:endParaRPr lang="tr-TR" sz="3600" b="1" dirty="0">
              <a:solidFill>
                <a:srgbClr val="4285F4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endParaRPr lang="tr-TR" sz="3600" dirty="0">
              <a:solidFill>
                <a:srgbClr val="4285F4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tr-TR" sz="36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Sorularınız ve Önerileriniz Hoş Geldiniz</a:t>
            </a:r>
            <a:endParaRPr lang="tr-TR" sz="36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endParaRPr lang="tr-TR" sz="3600" dirty="0">
              <a:solidFill>
                <a:srgbClr val="667EEA"/>
              </a:solidFill>
              <a:highlight>
                <a:srgbClr val="FFFFFF"/>
              </a:highlight>
              <a:latin typeface="Calibri" panose="020F0502020204030204"/>
              <a:ea typeface="Calibri" panose="020F0502020204030204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 descr="renklilik, grafik, tasarım içeren bir resim&#10;&#10;Yapay zeka tarafından oluşturulmuş içerik yanlış olabilir."/>
          <p:cNvPicPr>
            <a:picLocks noChangeAspect="1"/>
          </p:cNvPicPr>
          <p:nvPr/>
        </p:nvPicPr>
        <p:blipFill>
          <a:blip r:embed="rId1">
            <a:alphaModFix amt="13000"/>
          </a:blip>
          <a:srcRect r="888" b="-1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9" name="İçerik Yer Tutucusu 2"/>
          <p:cNvSpPr>
            <a:spLocks noGrp="1"/>
          </p:cNvSpPr>
          <p:nvPr/>
        </p:nvSpPr>
        <p:spPr>
          <a:xfrm>
            <a:off x="654457" y="1411397"/>
            <a:ext cx="10890928" cy="40406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403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endParaRPr lang="tr-TR" sz="3200" dirty="0">
              <a:solidFill>
                <a:srgbClr val="667EEA"/>
              </a:solidFill>
              <a:highlight>
                <a:srgbClr val="FFFFFF"/>
              </a:highlight>
              <a:latin typeface="Calibri" panose="020F0502020204030204"/>
              <a:ea typeface="Calibri" panose="020F0502020204030204"/>
              <a:cs typeface="Segoe UI" panose="020B0502040204020203"/>
            </a:endParaRPr>
          </a:p>
          <a:p>
            <a:pPr marL="0" indent="0" algn="ctr">
              <a:buNone/>
            </a:pPr>
            <a:r>
              <a:rPr lang="tr-TR" sz="32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AHMED SAAD BORHANELDIN MOHAMED</a:t>
            </a:r>
            <a:endParaRPr lang="tr-TR" sz="32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tr-TR" sz="32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ALA BUVEIDANI</a:t>
            </a:r>
            <a:endParaRPr lang="tr-TR" sz="32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tr-TR" sz="32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MUEİYED ŞEYH BEZİNE</a:t>
            </a:r>
            <a:endParaRPr lang="tr-TR" sz="32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tr-TR" sz="32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SAMİ ALKHALAF</a:t>
            </a:r>
            <a:endParaRPr lang="tr-TR" sz="32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Metin kutusu 3"/>
          <p:cNvSpPr txBox="1"/>
          <p:nvPr/>
        </p:nvSpPr>
        <p:spPr>
          <a:xfrm>
            <a:off x="4720498" y="454646"/>
            <a:ext cx="2743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3600" b="1" dirty="0">
                <a:solidFill>
                  <a:srgbClr val="4285F4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Segoe UI" panose="020B0502040204020203"/>
              </a:rPr>
              <a:t>Grup Üyeleri</a:t>
            </a:r>
            <a:endParaRPr lang="tr-TR" sz="3600" b="1">
              <a:solidFill>
                <a:srgbClr val="4285F4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3856</Words>
  <Application>WPS Presentation</Application>
  <PresentationFormat>Geniş ekran</PresentationFormat>
  <Paragraphs>201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Segoe UI</vt:lpstr>
      <vt:lpstr>Arial,Sans-Serif</vt:lpstr>
      <vt:lpstr>Arial</vt:lpstr>
      <vt:lpstr>Microsoft YaHei</vt:lpstr>
      <vt:lpstr>Arial Unicode MS</vt:lpstr>
      <vt:lpstr>Aptos Display</vt:lpstr>
      <vt:lpstr>Segoe UI</vt:lpstr>
      <vt:lpstr>Aptos</vt:lpstr>
      <vt:lpstr>Segoe Print</vt:lpstr>
      <vt:lpstr>Ofis Teması</vt:lpstr>
      <vt:lpstr>PowerPoint 演示文稿</vt:lpstr>
      <vt:lpstr>PowerPoint 演示文稿</vt:lpstr>
      <vt:lpstr>PowerPoint 演示文稿</vt:lpstr>
      <vt:lpstr>PowerPoint 演示文稿</vt:lpstr>
      <vt:lpstr>Şekil 1:Rating dağılım histogramı</vt:lpstr>
      <vt:lpstr>PowerPoint 演示文稿</vt:lpstr>
      <vt:lpstr>PowerPoint 演示文稿</vt:lpstr>
      <vt:lpstr>PowerPoint 演示文稿</vt:lpstr>
      <vt:lpstr>PowerPoint 演示文稿</vt:lpstr>
      <vt:lpstr>- Veri seti dengesiz olduğu için accuracy yerine F1-score dikkate alınmıştır.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</cp:lastModifiedBy>
  <cp:revision>5</cp:revision>
  <dcterms:created xsi:type="dcterms:W3CDTF">2012-08-15T22:53:00Z</dcterms:created>
  <dcterms:modified xsi:type="dcterms:W3CDTF">2026-01-08T06:27:25Z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16A451CA2C674EE39C572174F5F9434F_13</vt:lpwstr>
  </property>
  <property fmtid="{D5CDD505-2E9C-101B-9397-08002B2CF9AE}" pid="3" name="KSOProductBuildVer">
    <vt:lpwstr>1033-12.2.0.23196</vt:lpwstr>
  </property>
</Properties>
</file>